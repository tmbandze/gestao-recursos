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Sistema de Gestão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i="1">
                <a:solidFill>
                  <a:srgbClr val="4FC3F7"/>
                </a:solidFill>
              </a:rPr>
              <a:t>Partilha de Livros entre Estudantes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520440"/>
            <a:ext cx="5788152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Sistemas Distribuídos — Trabalho Prático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CCCCC"/>
                </a:solidFill>
              </a:rPr>
              <a:t>Ano lectivo 2025/2026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Stack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Duas JVMs independentes — servidor e cliente em processos separados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303520"/>
                <a:gridCol w="2468880"/>
              </a:tblGrid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Camada</a:t>
                      </a:r>
                    </a:p>
                  </a:txBody>
                  <a:tcPr marT="76200" marB="76200">
                    <a:solidFill>
                      <a:srgbClr val="1A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Tecnologia</a:t>
                      </a:r>
                    </a:p>
                  </a:txBody>
                  <a:tcPr marT="76200" marB="76200">
                    <a:solidFill>
                      <a:srgbClr val="1A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Versão</a:t>
                      </a:r>
                    </a:p>
                  </a:txBody>
                  <a:tcPr marT="76200" marB="76200">
                    <a:solidFill>
                      <a:srgbClr val="1A5C8A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Interface Gráfica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4FC3F7"/>
                          </a:solidFill>
                        </a:rPr>
                        <a:t>JavaFX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Linguagem</a:t>
                      </a:r>
                    </a:p>
                  </a:txBody>
                  <a:tcPr marT="76200" marB="76200">
                    <a:solidFill>
                      <a:srgbClr val="2E2E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4FC3F7"/>
                          </a:solidFill>
                        </a:rPr>
                        <a:t>Java SE</a:t>
                      </a:r>
                    </a:p>
                  </a:txBody>
                  <a:tcPr marT="76200" marB="76200">
                    <a:solidFill>
                      <a:srgbClr val="2E2E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17+</a:t>
                      </a:r>
                    </a:p>
                  </a:txBody>
                  <a:tcPr marT="76200" marB="76200">
                    <a:solidFill>
                      <a:srgbClr val="2E2E45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Comunicação em rede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4FC3F7"/>
                          </a:solidFill>
                        </a:rPr>
                        <a:t>ServerSocket / Socket (TCP)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Java stdlib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Serialização / Persistência</a:t>
                      </a:r>
                    </a:p>
                  </a:txBody>
                  <a:tcPr marT="76200" marB="76200">
                    <a:solidFill>
                      <a:srgbClr val="2E2E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4FC3F7"/>
                          </a:solidFill>
                        </a:rPr>
                        <a:t>Gson  →  livros.json</a:t>
                      </a:r>
                    </a:p>
                  </a:txBody>
                  <a:tcPr marT="76200" marB="76200">
                    <a:solidFill>
                      <a:srgbClr val="2E2E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2.10.1</a:t>
                      </a:r>
                    </a:p>
                  </a:txBody>
                  <a:tcPr marT="76200" marB="76200">
                    <a:solidFill>
                      <a:srgbClr val="2E2E45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Build e dependências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4FC3F7"/>
                          </a:solidFill>
                        </a:rPr>
                        <a:t>Apache Maven (multi-módulo)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</a:rPr>
                        <a:t>3.8+</a:t>
                      </a:r>
                    </a:p>
                  </a:txBody>
                  <a:tcPr marT="76200" marB="76200"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Comunicação TCP: Sockets e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"Como cliente e servidor trocam mensagens?"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6858000" cy="3840480"/>
          </a:xfrm>
          <a:prstGeom prst="rect">
            <a:avLst/>
          </a:prstGeom>
          <a:solidFill>
            <a:srgbClr val="2A2A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98D89E"/>
                </a:solidFill>
                <a:latin typeface="Courier New"/>
              </a:rPr>
              <a:t>  Cliente                          Servidor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                                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│── LOGIN|João ─────────────────►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│◄─ OK|Bem-vindo ──────────────── 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                                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│── REQUISITAR|uuid-1234 ────────►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│◄─ OK|Livro requisitado ────────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                                 │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│◄─ NOTIFICACAO|Disponível! ──────│   ← push assíncrono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│◄─ ATUALIZAR ───────────────────  │   ← broadcast a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25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▸  ServerSocket aguarda conexões na porta 8080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Protocolo de texto simples:  COMANDO|campo1|campo2\n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Testável com telnet — independente da linguagem do cliente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Funciona como middleware de abstracção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Concorrência: ExecutorService + synchronized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"Como o servidor atende vários clientes ao mesmo tempo?"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5760720" cy="2103120"/>
          </a:xfrm>
          <a:prstGeom prst="rect">
            <a:avLst/>
          </a:prstGeom>
          <a:solidFill>
            <a:srgbClr val="2A2A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98D89E"/>
                </a:solidFill>
                <a:latin typeface="Courier New"/>
              </a:rPr>
              <a:t>// Thread pool — uma thread por cliente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ExecutorService executor = Executors.newCachedThreadPool();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while (true) {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Socket socket = serverSocket.accept();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executor.submit(new GestorClientes(socket, gestorLivros));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566160"/>
            <a:ext cx="5760720" cy="2743200"/>
          </a:xfrm>
          <a:prstGeom prst="rect">
            <a:avLst/>
          </a:prstGeom>
          <a:solidFill>
            <a:srgbClr val="2A2A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98D89E"/>
                </a:solidFill>
                <a:latin typeface="Courier New"/>
              </a:rPr>
              <a:t>// Secção crítica — synchronized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public synchronized String requisitar(String id, ...) {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if (livro.isDisponivel()) {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    livro.setEstudante(cliente.getNome());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    return "OK|Livro requisitado";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} else {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    livro.adicionarFila(cliente);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    return "OK|Adicionado à fila";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98D89E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▸  newCachedThreadPool() — thread por cliente, sem bloquear os outros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synchronized — secção crítica: só uma thread executa de cada vez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Métodos de escrita sincronizados; leitura pura não precisa de lock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▸  Impossível dois clientes requisitarem o mesmo livro em simultâneo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</a:rPr>
              <a:t>Notificações Assíncronas (Push)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"O servidor avisa o cliente sem que ele tenha perguntado"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749039" cy="1554480"/>
          </a:xfrm>
          <a:prstGeom prst="rect">
            <a:avLst/>
          </a:prstGeom>
          <a:solidFill>
            <a:srgbClr val="3E1E1E"/>
          </a:solidFill>
          <a:ln w="12700">
            <a:solidFill>
              <a:srgbClr val="AA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6666"/>
                </a:solidFill>
              </a:rPr>
              <a:t>Sem push — polling  ✗</a:t>
            </a:r>
          </a:p>
          <a:p>
            <a:pPr algn="l"/>
            <a:r>
              <a:rPr sz="1300" b="0" i="1">
                <a:solidFill>
                  <a:srgbClr val="CCCCCC"/>
                </a:solidFill>
              </a:rPr>
              <a:t>"Há novidades?" → "Há novidades?" → ...</a:t>
            </a:r>
          </a:p>
          <a:p>
            <a:pPr algn="l"/>
            <a:r>
              <a:rPr sz="1300" b="0" i="0">
                <a:solidFill>
                  <a:srgbClr val="FF8888"/>
                </a:solidFill>
              </a:rPr>
              <a:t>Cliente pergunta repetidamente — ineficiente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417320"/>
            <a:ext cx="3749039" cy="1554480"/>
          </a:xfrm>
          <a:prstGeom prst="rect">
            <a:avLst/>
          </a:prstGeom>
          <a:solidFill>
            <a:srgbClr val="1A331A"/>
          </a:solidFill>
          <a:ln w="12700">
            <a:solidFill>
              <a:srgbClr val="44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98D89E"/>
                </a:solidFill>
              </a:rPr>
              <a:t>Com push — este sistema  ✓</a:t>
            </a:r>
          </a:p>
          <a:p>
            <a:pPr algn="l"/>
            <a:r>
              <a:rPr sz="1300" b="0" i="1">
                <a:solidFill>
                  <a:srgbClr val="CCCCCC"/>
                </a:solidFill>
              </a:rPr>
              <a:t>Servidor envia quando há novidade:</a:t>
            </a:r>
          </a:p>
          <a:p>
            <a:pPr algn="l"/>
            <a:r>
              <a:rPr sz="1300" b="0" i="0">
                <a:solidFill>
                  <a:srgbClr val="98D89E"/>
                </a:solidFill>
              </a:rPr>
              <a:t>NOTIFICACAO|Livro disponível para si!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08960"/>
            <a:ext cx="7863840" cy="3291840"/>
          </a:xfrm>
          <a:prstGeom prst="rect">
            <a:avLst/>
          </a:prstGeom>
          <a:solidFill>
            <a:srgbClr val="2A2A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>
                <a:solidFill>
                  <a:srgbClr val="98D89E"/>
                </a:solidFill>
                <a:latin typeface="Courier New"/>
              </a:rPr>
              <a:t>public void run() {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String msg;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while ((msg = entrada.readLine()) != null) {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    if (msg.startsWith("NOTIFICACAO|"))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        Platform.runLater(() -&gt; controlador.mostrarNotificacao(msg));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    else if (msg.equals("ATUALIZAR"))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        Platform.runLater(() -&gt; controlador.atualizarLista());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    else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        cliente.receberResposta(msg);  // resposta síncrona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    }</a:t>
            </a:r>
          </a:p>
          <a:p>
            <a:r>
              <a:rPr sz="1150">
                <a:solidFill>
                  <a:srgbClr val="98D89E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20040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Thread única a ler o socket — evita race condition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Platform.runLater() — JavaFX exige actualizações na sua thread principal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 BlockingQueue sincroniza notificações com respostas síncronas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